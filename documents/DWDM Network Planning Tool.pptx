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72" r:id="rId12"/>
    <p:sldId id="265" r:id="rId13"/>
    <p:sldId id="266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0" autoAdjust="0"/>
    <p:restoredTop sz="94660"/>
  </p:normalViewPr>
  <p:slideViewPr>
    <p:cSldViewPr snapToGrid="0">
      <p:cViewPr varScale="1">
        <p:scale>
          <a:sx n="43" d="100"/>
          <a:sy n="43" d="100"/>
        </p:scale>
        <p:origin x="84" y="10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20CDD-A0FE-FD4E-E1EF-0D8696DFCF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CD8553-7BBD-E907-8D97-9B72442FD0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A3783-B6B7-C602-DE58-3959D059D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7D4C-04D9-4057-AE06-0697A63F89A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09EF2-09E5-1F20-E867-DA03B6946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A80A5-F5D7-8B80-3CB2-712965FB0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68C1-AF37-4017-AC6A-819902D60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202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31248-C3F9-4272-F5F6-54403BF57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263CA-B7D9-7AB5-1BBB-BCC571025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3A8BC-FD3C-3DCD-82D9-80C7FB264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7D4C-04D9-4057-AE06-0697A63F89A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93A0D-5837-3B0A-C49D-AF98222E6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50EC2-B5DD-374A-2413-7527F69EE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68C1-AF37-4017-AC6A-819902D60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376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940E9-6273-649E-39DF-CC23F7C52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FECBA-1F12-0442-102C-24F50D9B7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DAB6D-9CD7-72DF-3417-AE940E73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7D4C-04D9-4057-AE06-0697A63F89A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A6ABC-76AE-692C-D09C-9B0462FA6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00035-F851-153B-9CCC-EE61614A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68C1-AF37-4017-AC6A-819902D60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535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FB942-2430-2B5E-F57B-09F5A7D03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5B08A-784E-BDE7-37F2-40A822667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0CDC0-38E9-7B2D-44D3-5B2A32DE7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F62DD9-1EAF-4D87-C420-58E78AF3A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7D4C-04D9-4057-AE06-0697A63F89A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99F1B-8A8E-00DF-F1A9-2A8AD3F03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43EAE-0594-1141-3FEE-CEFD4C015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68C1-AF37-4017-AC6A-819902D60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118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8AE8D-8E2E-747B-0578-BD8FF08BC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565E3-B272-3367-0AB2-BC9830173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FF728-0B24-745E-824E-3CE690C59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14DC3C-00BD-21B1-D644-3DB4145395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CC82C5-D25F-3A24-F71C-4732B462A4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49D1E7-DF1C-EEE0-A7A4-29EDAD79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7D4C-04D9-4057-AE06-0697A63F89A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721D76-A412-67E4-22AC-8739C84C8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D24AE5-8DCA-5AEA-FAFC-780E4756B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68C1-AF37-4017-AC6A-819902D60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790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BC569-E218-FC00-50DB-F920FEA03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D6BED2-CEA0-6208-602C-A68C17EE5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7D4C-04D9-4057-AE06-0697A63F89A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3ED49-4D83-9C8B-DF5E-9670CD865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1475F1-BF5C-A5E1-EC2C-1B0F2A622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68C1-AF37-4017-AC6A-819902D60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591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623396-1561-B446-D759-C53F21445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7D4C-04D9-4057-AE06-0697A63F89A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728416-7673-925B-E318-B47C53275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165F8-6F7A-8FF1-1B58-5566B7750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68C1-AF37-4017-AC6A-819902D60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408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914A5-F58A-372A-A4D5-F76E56DF4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AB68B-4B0E-6D66-EA69-2A09CD172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9D7AD8-DB90-DF35-44EF-A02C537E3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24B93-3BD7-9A4E-FE24-0671C71E3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7D4C-04D9-4057-AE06-0697A63F89A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4413C-1B11-2965-819F-41F737D66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3C26F-FAEB-7F78-B878-E922DDC31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68C1-AF37-4017-AC6A-819902D60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359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49993-3426-3F0A-5E62-D749D03A1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9FB313-5C63-B735-5C72-CC8ADB5ABB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73B5A3-20AF-68E6-0141-F3E19E96A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F73BB-4078-3E5E-9745-D9BE35D24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7D4C-04D9-4057-AE06-0697A63F89A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1287-9902-04F3-14E7-B24605099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C902A-215D-FDD9-79EC-1CACC85E6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68C1-AF37-4017-AC6A-819902D60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101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B585-743A-C4E5-93F1-EB9D1B13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FD1DA-A701-AA78-A4AC-8C8EE0804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681D9-1DFF-C2FB-E2D9-7334548A9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7D4C-04D9-4057-AE06-0697A63F89A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2E612-4880-A9F3-1AFC-4B4A8E17B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11089-F838-B260-40F4-7E14709D1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68C1-AF37-4017-AC6A-819902D60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636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D3777F-0A51-3A53-3F84-3EDADC3290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533E92-F084-2130-1C72-7EA221667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E7F8C-5BA1-1FF3-DE32-ECAEB1F28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7D4C-04D9-4057-AE06-0697A63F89A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5B0F7-D2D4-0BF3-EB0F-A4DC82C81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84082-99A5-28DD-BE74-A39F2709B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768C1-AF37-4017-AC6A-819902D60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647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AB558E-F48B-E2B5-E965-08727F7F4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5A18A-E085-4B3C-9972-2F98921F1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8724B-0F1E-9111-5D19-1E187FFD0C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B7D4C-04D9-4057-AE06-0697A63F89A0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0E954-8E9D-52D1-C9B0-6440C03F2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2606D-E1D4-E574-983C-333A750E0B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768C1-AF37-4017-AC6A-819902D60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10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C414D-8DC1-DE8E-B98D-AF3D80E0AD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3465"/>
            <a:ext cx="9144000" cy="1381240"/>
          </a:xfrm>
        </p:spPr>
        <p:txBody>
          <a:bodyPr>
            <a:normAutofit fontScale="90000"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DWDM Network Planning Tool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/>
              <a:t>(Training-Level Feasibility Analyzer using </a:t>
            </a:r>
            <a:r>
              <a:rPr lang="en-IN" sz="2800" dirty="0" err="1"/>
              <a:t>FastAPI</a:t>
            </a:r>
            <a:r>
              <a:rPr lang="en-IN" sz="2800" dirty="0"/>
              <a:t> &amp; React)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BACFC-D73F-F123-8319-9A15F248F4E4}"/>
              </a:ext>
            </a:extLst>
          </p:cNvPr>
          <p:cNvSpPr txBox="1"/>
          <p:nvPr/>
        </p:nvSpPr>
        <p:spPr>
          <a:xfrm>
            <a:off x="1524000" y="2321676"/>
            <a:ext cx="621060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by:Girish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CK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Type:Seminar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Full-Stack Implementation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Stack: Python (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React (Frontend UI)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Power Budget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ModelingDate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:(Insert presentation date)</a:t>
            </a:r>
          </a:p>
        </p:txBody>
      </p:sp>
    </p:spTree>
    <p:extLst>
      <p:ext uri="{BB962C8B-B14F-4D97-AF65-F5344CB8AC3E}">
        <p14:creationId xmlns:p14="http://schemas.microsoft.com/office/powerpoint/2010/main" val="2463932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A572-1E1F-D49A-EE7A-721874FF04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36455"/>
            <a:ext cx="9144000" cy="863745"/>
          </a:xfrm>
        </p:spPr>
        <p:txBody>
          <a:bodyPr>
            <a:normAutofit fontScale="90000"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2FAC43-DEE8-83E9-EC24-738BD28C69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81200"/>
            <a:ext cx="9144000" cy="3276600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Planning Metrics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Power Budget &amp; Rx Power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OSNR (Threshold &amp; Margin)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System Design (</a:t>
            </a:r>
            <a:r>
              <a:rPr lang="en-IN" dirty="0" err="1"/>
              <a:t>FastAPI</a:t>
            </a:r>
            <a:r>
              <a:rPr lang="en-IN" dirty="0"/>
              <a:t> + React)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API </a:t>
            </a:r>
            <a:r>
              <a:rPr lang="en-IN" dirty="0" err="1"/>
              <a:t>ContractUI</a:t>
            </a:r>
            <a:r>
              <a:rPr lang="en-IN" dirty="0"/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 err="1"/>
              <a:t>ScreensEdge</a:t>
            </a:r>
            <a:r>
              <a:rPr lang="en-IN" dirty="0"/>
              <a:t> Cases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Lessons Learned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Future Work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Live Demo &amp; Q&amp;A</a:t>
            </a:r>
          </a:p>
        </p:txBody>
      </p:sp>
    </p:spTree>
    <p:extLst>
      <p:ext uri="{BB962C8B-B14F-4D97-AF65-F5344CB8AC3E}">
        <p14:creationId xmlns:p14="http://schemas.microsoft.com/office/powerpoint/2010/main" val="4147540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C1D8-2067-63F9-CA1B-230065A3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7219"/>
            <a:ext cx="9144000" cy="1126981"/>
          </a:xfrm>
        </p:spPr>
        <p:txBody>
          <a:bodyPr>
            <a:normAutofit/>
          </a:bodyPr>
          <a:lstStyle/>
          <a:p>
            <a:pPr algn="l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DWDM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F214A2-A70F-D3CE-D8F5-41A4BF0728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61309"/>
            <a:ext cx="9864436" cy="3851564"/>
          </a:xfrm>
        </p:spPr>
        <p:txBody>
          <a:bodyPr>
            <a:normAutofit lnSpcReduction="10000"/>
          </a:bodyPr>
          <a:lstStyle/>
          <a:p>
            <a:pPr algn="l"/>
            <a:r>
              <a:rPr lang="en-IN" dirty="0"/>
              <a:t>These are the fundamental concepts required to understand DWDM network planning:</a:t>
            </a:r>
          </a:p>
          <a:p>
            <a:pPr algn="l"/>
            <a:r>
              <a:rPr lang="en-IN" b="1" dirty="0"/>
              <a:t>Wavelengths</a:t>
            </a:r>
            <a:r>
              <a:rPr lang="en-IN" dirty="0"/>
              <a:t> DWDM carries multiple optical channels over a single </a:t>
            </a:r>
            <a:r>
              <a:rPr lang="en-IN" dirty="0" err="1"/>
              <a:t>fiber</a:t>
            </a:r>
            <a:r>
              <a:rPr lang="en-IN" dirty="0"/>
              <a:t>.</a:t>
            </a:r>
          </a:p>
          <a:p>
            <a:pPr algn="l"/>
            <a:r>
              <a:rPr lang="en-IN" dirty="0"/>
              <a:t>Each channel operates at a different wavelength (</a:t>
            </a:r>
            <a:r>
              <a:rPr lang="el-GR" dirty="0"/>
              <a:t>λ).</a:t>
            </a:r>
            <a:r>
              <a:rPr lang="en-IN" dirty="0"/>
              <a:t>Enables high-capacity transmission.</a:t>
            </a:r>
          </a:p>
          <a:p>
            <a:pPr algn="l"/>
            <a:r>
              <a:rPr lang="en-IN" b="1" dirty="0" err="1"/>
              <a:t>SpansA</a:t>
            </a:r>
            <a:r>
              <a:rPr lang="en-IN" b="1" dirty="0"/>
              <a:t> </a:t>
            </a:r>
            <a:r>
              <a:rPr lang="en-IN" dirty="0"/>
              <a:t>span is the </a:t>
            </a:r>
            <a:r>
              <a:rPr lang="en-IN" dirty="0" err="1"/>
              <a:t>fiber</a:t>
            </a:r>
            <a:r>
              <a:rPr lang="en-IN" dirty="0"/>
              <a:t> segment between two optical elements. Signal power reduces over distance due to attenuation.</a:t>
            </a:r>
          </a:p>
          <a:p>
            <a:pPr algn="l"/>
            <a:r>
              <a:rPr lang="en-IN" dirty="0"/>
              <a:t>May include connectors, splices, and amplifiers.</a:t>
            </a:r>
          </a:p>
          <a:p>
            <a:pPr algn="l"/>
            <a:r>
              <a:rPr lang="en-IN" b="1" dirty="0"/>
              <a:t>ROADMs</a:t>
            </a:r>
            <a:r>
              <a:rPr lang="en-IN" dirty="0"/>
              <a:t> Reconfigurable Optical Add-Drop Multiplexers.</a:t>
            </a:r>
          </a:p>
          <a:p>
            <a:pPr algn="l"/>
            <a:r>
              <a:rPr lang="en-IN" dirty="0"/>
              <a:t>Allow dynamic routing of wavelengths. Enable flexible optical network design.</a:t>
            </a:r>
          </a:p>
        </p:txBody>
      </p:sp>
    </p:spTree>
    <p:extLst>
      <p:ext uri="{BB962C8B-B14F-4D97-AF65-F5344CB8AC3E}">
        <p14:creationId xmlns:p14="http://schemas.microsoft.com/office/powerpoint/2010/main" val="3967454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217F8-1A21-3F41-A9E0-10B240014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82637"/>
            <a:ext cx="9144000" cy="1071563"/>
          </a:xfrm>
        </p:spPr>
        <p:txBody>
          <a:bodyPr>
            <a:normAutofit/>
          </a:bodyPr>
          <a:lstStyle/>
          <a:p>
            <a:pPr algn="l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E51BE-EF38-394F-D2E0-C549F8E46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119745"/>
            <a:ext cx="9628909" cy="4073237"/>
          </a:xfrm>
        </p:spPr>
        <p:txBody>
          <a:bodyPr/>
          <a:lstStyle/>
          <a:p>
            <a:pPr algn="l"/>
            <a:r>
              <a:rPr lang="en-IN" dirty="0"/>
              <a:t>The following parameters directly affect DWDM link feasibility:</a:t>
            </a:r>
          </a:p>
          <a:p>
            <a:pPr algn="l"/>
            <a:r>
              <a:rPr lang="en-IN" dirty="0"/>
              <a:t> </a:t>
            </a:r>
            <a:r>
              <a:rPr lang="en-IN" b="1" dirty="0"/>
              <a:t>Fiber</a:t>
            </a:r>
            <a:r>
              <a:rPr lang="en-IN" dirty="0"/>
              <a:t> Attenuation Signal loss per </a:t>
            </a:r>
            <a:r>
              <a:rPr lang="en-IN" dirty="0" err="1"/>
              <a:t>kilometer</a:t>
            </a:r>
            <a:r>
              <a:rPr lang="en-IN" dirty="0"/>
              <a:t> (dB/km).Increases with distance. Primary contributor to total link loss.</a:t>
            </a:r>
          </a:p>
          <a:p>
            <a:pPr algn="l"/>
            <a:r>
              <a:rPr lang="en-IN" dirty="0"/>
              <a:t>Connectors Each connector introduces insertion loss. Accumulates across the link. </a:t>
            </a:r>
          </a:p>
          <a:p>
            <a:pPr algn="l"/>
            <a:r>
              <a:rPr lang="en-IN" b="1" dirty="0"/>
              <a:t>Splices</a:t>
            </a:r>
            <a:r>
              <a:rPr lang="en-IN" dirty="0"/>
              <a:t> Fusion or mechanical joints in </a:t>
            </a:r>
            <a:r>
              <a:rPr lang="en-IN" dirty="0" err="1"/>
              <a:t>fiber</a:t>
            </a:r>
            <a:r>
              <a:rPr lang="en-IN" dirty="0"/>
              <a:t>. Add small but cumulative loss.</a:t>
            </a:r>
          </a:p>
          <a:p>
            <a:pPr algn="l"/>
            <a:r>
              <a:rPr lang="en-IN" b="1" dirty="0"/>
              <a:t>EDFA</a:t>
            </a:r>
            <a:r>
              <a:rPr lang="en-IN" dirty="0"/>
              <a:t> (Erbium-Doped Fiber Amplifier) Compensates for </a:t>
            </a:r>
            <a:r>
              <a:rPr lang="en-IN" dirty="0" err="1"/>
              <a:t>fiber</a:t>
            </a:r>
            <a:r>
              <a:rPr lang="en-IN" dirty="0"/>
              <a:t> loss by amplifying signal power. Includes gain and practical penalties.</a:t>
            </a:r>
          </a:p>
        </p:txBody>
      </p:sp>
    </p:spTree>
    <p:extLst>
      <p:ext uri="{BB962C8B-B14F-4D97-AF65-F5344CB8AC3E}">
        <p14:creationId xmlns:p14="http://schemas.microsoft.com/office/powerpoint/2010/main" val="2365910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E5D75-01CA-CC1F-AAD7-EEB9837D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08219"/>
          </a:xfrm>
        </p:spPr>
        <p:txBody>
          <a:bodyPr>
            <a:normAutofit fontScale="90000"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DFC30D-1860-DF65-893E-CA5C572AA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31817"/>
            <a:ext cx="9601200" cy="4447309"/>
          </a:xfrm>
        </p:spPr>
        <p:txBody>
          <a:bodyPr>
            <a:normAutofit lnSpcReduction="10000"/>
          </a:bodyPr>
          <a:lstStyle/>
          <a:p>
            <a:pPr algn="l"/>
            <a:r>
              <a:rPr lang="en-IN" dirty="0"/>
              <a:t>Power Budget &amp; Rx Power(Formula + Example) </a:t>
            </a:r>
          </a:p>
          <a:p>
            <a:pPr algn="l"/>
            <a:r>
              <a:rPr lang="en-IN" dirty="0"/>
              <a:t>What is Power Budget? Power Budget = Tx Power − Receiver Sensitivity</a:t>
            </a:r>
          </a:p>
          <a:p>
            <a:pPr algn="l"/>
            <a:r>
              <a:rPr lang="en-IN" dirty="0"/>
              <a:t>It represents the maximum allowable loss in the link. </a:t>
            </a:r>
          </a:p>
          <a:p>
            <a:pPr algn="l"/>
            <a:r>
              <a:rPr lang="en-IN" dirty="0"/>
              <a:t>Total Link </a:t>
            </a:r>
            <a:r>
              <a:rPr lang="en-IN" dirty="0" err="1"/>
              <a:t>LossTotal</a:t>
            </a:r>
            <a:r>
              <a:rPr lang="en-IN" dirty="0"/>
              <a:t> Loss =(Fiber Loss + Connector Loss + Splice Loss − Amplifier Gain)Where: Fiber Loss = Length × Attenuation Connector Loss = Number of connectors × Loss per connector Splice Loss = Number of splices × Loss per splice </a:t>
            </a:r>
          </a:p>
          <a:p>
            <a:pPr algn="l"/>
            <a:r>
              <a:rPr lang="en-IN" dirty="0"/>
              <a:t>Received </a:t>
            </a:r>
            <a:r>
              <a:rPr lang="en-IN" dirty="0" err="1"/>
              <a:t>PowerRx</a:t>
            </a:r>
            <a:r>
              <a:rPr lang="en-IN" dirty="0"/>
              <a:t> Power = Tx Power − Total </a:t>
            </a:r>
            <a:r>
              <a:rPr lang="en-IN" dirty="0" err="1"/>
              <a:t>LossPower</a:t>
            </a:r>
            <a:r>
              <a:rPr lang="en-IN" dirty="0"/>
              <a:t> condition is satisfied </a:t>
            </a:r>
            <a:r>
              <a:rPr lang="en-IN" dirty="0" err="1"/>
              <a:t>if:Rx</a:t>
            </a:r>
            <a:r>
              <a:rPr lang="en-IN" dirty="0"/>
              <a:t> Power ≥ Receiver Sensitivity</a:t>
            </a:r>
          </a:p>
          <a:p>
            <a:pPr algn="l"/>
            <a:r>
              <a:rPr lang="en-IN" dirty="0"/>
              <a:t> Example Given: Tx Power = 2 dBm Receiver Sensitivity = −28 dBm </a:t>
            </a:r>
          </a:p>
          <a:p>
            <a:pPr algn="l"/>
            <a:r>
              <a:rPr lang="en-IN" dirty="0"/>
              <a:t>Power Budget = 2 − (−28) = 30 Db Assume Total Loss = 22 dB Rx Power = 2 − 22 = −20 dBm Since −20 ≥ −28 → Power PASS</a:t>
            </a:r>
          </a:p>
        </p:txBody>
      </p:sp>
    </p:spTree>
    <p:extLst>
      <p:ext uri="{BB962C8B-B14F-4D97-AF65-F5344CB8AC3E}">
        <p14:creationId xmlns:p14="http://schemas.microsoft.com/office/powerpoint/2010/main" val="1556864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0BD4F-4C07-DED7-5725-E98495CFE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9626"/>
            <a:ext cx="10183318" cy="1202309"/>
          </a:xfrm>
        </p:spPr>
        <p:txBody>
          <a:bodyPr>
            <a:normAutofit fontScale="90000"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Optical Planning Parameters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41ED2A-66FF-0265-B7D3-0BA532612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01719"/>
            <a:ext cx="9598702" cy="4186655"/>
          </a:xfrm>
        </p:spPr>
        <p:txBody>
          <a:bodyPr>
            <a:noAutofit/>
          </a:bodyPr>
          <a:lstStyle/>
          <a:p>
            <a:pPr algn="l"/>
            <a:r>
              <a:rPr lang="en-IN" dirty="0"/>
              <a:t>OSNR(Simplified Threshold &amp; Margin) </a:t>
            </a:r>
          </a:p>
          <a:p>
            <a:pPr algn="l"/>
            <a:r>
              <a:rPr lang="en-IN" dirty="0"/>
              <a:t>What is OSNR?OSNR (Optical Signal-to-Noise Ratio) measures the quality of the optical signal. It represents the ratio of signal power to noise power. Higher OSNR → Better signal quality.</a:t>
            </a:r>
          </a:p>
          <a:p>
            <a:pPr algn="l"/>
            <a:r>
              <a:rPr lang="en-IN" dirty="0"/>
              <a:t> Simplified OSNR Estimation (Training Model)Estimated OSNR =Tx Power − Total Loss + Total Amplifier Gain − Noise Penalty</a:t>
            </a:r>
          </a:p>
          <a:p>
            <a:pPr algn="l"/>
            <a:r>
              <a:rPr lang="en-IN" dirty="0"/>
              <a:t>OSNR Margin OSNR Margin = Estimated OSNR − OSNR Threshold</a:t>
            </a:r>
          </a:p>
          <a:p>
            <a:pPr algn="l"/>
            <a:r>
              <a:rPr lang="en-IN" dirty="0"/>
              <a:t>Feasibility Condition If OSNR Margin ≥ 0 → OSNR PASS If OSNR Margin &lt; 0 → OSNR FAIL Both conditions must be satisfied: Rx Power ≥ Receiver Sensitivity OSNR Margin ≥ 0Only then → Link is Feasible</a:t>
            </a:r>
          </a:p>
          <a:p>
            <a:pPr algn="l"/>
            <a:r>
              <a:rPr lang="en-IN" dirty="0"/>
              <a:t>Example Assume: Estimated OSNR = 20 dB OSNR Threshold = 18 dB OSNR Margin = 20 − 18 = 2 dB Since margin ≥ 0 → OSNR PASS</a:t>
            </a:r>
          </a:p>
        </p:txBody>
      </p:sp>
    </p:spTree>
    <p:extLst>
      <p:ext uri="{BB962C8B-B14F-4D97-AF65-F5344CB8AC3E}">
        <p14:creationId xmlns:p14="http://schemas.microsoft.com/office/powerpoint/2010/main" val="3567724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235D8-03A1-D69A-E60A-71839FAB3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8585"/>
            <a:ext cx="9144000" cy="991615"/>
          </a:xfrm>
        </p:spPr>
        <p:txBody>
          <a:bodyPr>
            <a:normAutofit/>
          </a:bodyPr>
          <a:lstStyle/>
          <a:p>
            <a:pPr algn="l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999B32-7CB2-68A8-7756-EEC1CC7505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58780"/>
            <a:ext cx="9643672" cy="4557010"/>
          </a:xfrm>
        </p:spPr>
        <p:txBody>
          <a:bodyPr/>
          <a:lstStyle/>
          <a:p>
            <a:pPr algn="l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D69F19-C04B-B392-FC0F-E99C2BD9D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827" y="1858780"/>
            <a:ext cx="9144018" cy="411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8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134C2-140B-9961-0128-9B6717B52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34517"/>
            <a:ext cx="9144000" cy="991615"/>
          </a:xfrm>
        </p:spPr>
        <p:txBody>
          <a:bodyPr>
            <a:normAutofit/>
          </a:bodyPr>
          <a:lstStyle/>
          <a:p>
            <a:pPr algn="l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BEF114-FA8D-F8BD-7A26-D50E631ABA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4085" y="1726131"/>
            <a:ext cx="9638676" cy="4584727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7D34CE-CE63-DF1A-E64F-71FC9AEA5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2" y="1738849"/>
            <a:ext cx="8451962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893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E4768-F542-52E0-0C14-04A6BDFBAB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4497"/>
            <a:ext cx="9144000" cy="961635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Contract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D5C369-531A-9EBD-B3EF-3DEF964BC4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610" y="1656414"/>
            <a:ext cx="3692577" cy="4437089"/>
          </a:xfrm>
        </p:spPr>
        <p:txBody>
          <a:bodyPr/>
          <a:lstStyle/>
          <a:p>
            <a:pPr algn="l"/>
            <a:r>
              <a:rPr lang="en-IN" dirty="0"/>
              <a:t>Endpoint Information</a:t>
            </a:r>
          </a:p>
          <a:p>
            <a:pPr algn="l">
              <a:lnSpc>
                <a:spcPct val="100000"/>
              </a:lnSpc>
            </a:pPr>
            <a:r>
              <a:rPr lang="en-IN" dirty="0"/>
              <a:t>HTTP Method: POST</a:t>
            </a:r>
          </a:p>
          <a:p>
            <a:pPr algn="l">
              <a:lnSpc>
                <a:spcPct val="100000"/>
              </a:lnSpc>
            </a:pPr>
            <a:r>
              <a:rPr lang="en-IN" dirty="0"/>
              <a:t>URL: /</a:t>
            </a:r>
            <a:r>
              <a:rPr lang="en-IN" dirty="0" err="1"/>
              <a:t>api</a:t>
            </a:r>
            <a:r>
              <a:rPr lang="en-IN" dirty="0"/>
              <a:t>/plan/feasibility</a:t>
            </a:r>
          </a:p>
          <a:p>
            <a:pPr algn="l">
              <a:lnSpc>
                <a:spcPct val="100000"/>
              </a:lnSpc>
            </a:pPr>
            <a:r>
              <a:rPr lang="en-IN" dirty="0"/>
              <a:t>Content-Type: application/</a:t>
            </a:r>
            <a:r>
              <a:rPr lang="en-IN" dirty="0" err="1"/>
              <a:t>json</a:t>
            </a:r>
            <a:endParaRPr lang="en-IN" dirty="0"/>
          </a:p>
          <a:p>
            <a:pPr algn="l">
              <a:lnSpc>
                <a:spcPct val="100000"/>
              </a:lnSpc>
            </a:pPr>
            <a:r>
              <a:rPr lang="en-IN" dirty="0"/>
              <a:t>This shows you understand REST design.</a:t>
            </a:r>
          </a:p>
          <a:p>
            <a:pPr algn="l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BA791F-A791-B902-1A59-88BDC505CF2B}"/>
              </a:ext>
            </a:extLst>
          </p:cNvPr>
          <p:cNvSpPr txBox="1"/>
          <p:nvPr/>
        </p:nvSpPr>
        <p:spPr>
          <a:xfrm>
            <a:off x="4572001" y="1612800"/>
            <a:ext cx="3852472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Request Structure </a:t>
            </a:r>
          </a:p>
          <a:p>
            <a:r>
              <a:rPr lang="en-IN" dirty="0"/>
              <a:t>{  "nodes": [    { "id": "A", "label": "Site A" },    { "id": "B", "label": "Site B" }  ],  "spans": [    {      "from": "A",      "to": "B",      "</a:t>
            </a:r>
            <a:r>
              <a:rPr lang="en-IN" dirty="0" err="1"/>
              <a:t>length_km</a:t>
            </a:r>
            <a:r>
              <a:rPr lang="en-IN" dirty="0"/>
              <a:t>": 50,      "connectors": 2,      "splices": 6,      "</a:t>
            </a:r>
            <a:r>
              <a:rPr lang="en-IN" dirty="0" err="1"/>
              <a:t>amplifier_gain_db</a:t>
            </a:r>
            <a:r>
              <a:rPr lang="en-IN" dirty="0"/>
              <a:t>": 10    }  ],  "service": {    "</a:t>
            </a:r>
            <a:r>
              <a:rPr lang="en-IN" dirty="0" err="1"/>
              <a:t>tx_power_dbm</a:t>
            </a:r>
            <a:r>
              <a:rPr lang="en-IN" dirty="0"/>
              <a:t>": 0,    "</a:t>
            </a:r>
            <a:r>
              <a:rPr lang="en-IN" dirty="0" err="1"/>
              <a:t>receiver_sensitivity_dbm</a:t>
            </a:r>
            <a:r>
              <a:rPr lang="en-IN" dirty="0"/>
              <a:t>": -26,    "</a:t>
            </a:r>
            <a:r>
              <a:rPr lang="en-IN" dirty="0" err="1"/>
              <a:t>osnr_threshold_db</a:t>
            </a:r>
            <a:r>
              <a:rPr lang="en-IN" dirty="0"/>
              <a:t>": 18  },  "assumptions": {    "</a:t>
            </a:r>
            <a:r>
              <a:rPr lang="en-IN" dirty="0" err="1"/>
              <a:t>fiber_atten_db_per_km</a:t>
            </a:r>
            <a:r>
              <a:rPr lang="en-IN" dirty="0"/>
              <a:t>": 0.22,    "</a:t>
            </a:r>
            <a:r>
              <a:rPr lang="en-IN" dirty="0" err="1"/>
              <a:t>conn_loss_db</a:t>
            </a:r>
            <a:r>
              <a:rPr lang="en-IN" dirty="0"/>
              <a:t>": 0.5,    "</a:t>
            </a:r>
            <a:r>
              <a:rPr lang="en-IN" dirty="0" err="1"/>
              <a:t>splice_loss_db</a:t>
            </a:r>
            <a:r>
              <a:rPr lang="en-IN" dirty="0"/>
              <a:t>": 0.1,    "</a:t>
            </a:r>
            <a:r>
              <a:rPr lang="en-IN" dirty="0" err="1"/>
              <a:t>noise_penalty_db</a:t>
            </a:r>
            <a:r>
              <a:rPr lang="en-IN" dirty="0"/>
              <a:t>": 3.0,    "</a:t>
            </a:r>
            <a:r>
              <a:rPr lang="en-IN" dirty="0" err="1"/>
              <a:t>amp_penalty_db</a:t>
            </a:r>
            <a:r>
              <a:rPr lang="en-IN" dirty="0"/>
              <a:t>": 1.0  </a:t>
            </a:r>
          </a:p>
          <a:p>
            <a:r>
              <a:rPr lang="en-IN" dirty="0"/>
              <a:t>}}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6179F0-E39F-9559-BDEF-DA0A955B9490}"/>
              </a:ext>
            </a:extLst>
          </p:cNvPr>
          <p:cNvSpPr txBox="1"/>
          <p:nvPr/>
        </p:nvSpPr>
        <p:spPr>
          <a:xfrm>
            <a:off x="8282064" y="1582022"/>
            <a:ext cx="3507699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Response Structure</a:t>
            </a:r>
          </a:p>
          <a:p>
            <a:r>
              <a:rPr lang="en-IN" dirty="0"/>
              <a:t>{  "</a:t>
            </a:r>
            <a:r>
              <a:rPr lang="en-IN" dirty="0" err="1"/>
              <a:t>total_loss_db</a:t>
            </a:r>
            <a:r>
              <a:rPr lang="en-IN" dirty="0"/>
              <a:t>": 3.6,  "</a:t>
            </a:r>
            <a:r>
              <a:rPr lang="en-IN" dirty="0" err="1"/>
              <a:t>tx_power_dbm</a:t>
            </a:r>
            <a:r>
              <a:rPr lang="en-IN" dirty="0"/>
              <a:t>": -3.6,  "</a:t>
            </a:r>
            <a:r>
              <a:rPr lang="en-IN" dirty="0" err="1"/>
              <a:t>osnr_margin_db</a:t>
            </a:r>
            <a:r>
              <a:rPr lang="en-IN" dirty="0"/>
              <a:t>": -15.6,  "feasible": false,  "</a:t>
            </a:r>
            <a:r>
              <a:rPr lang="en-IN" dirty="0" err="1"/>
              <a:t>per_span</a:t>
            </a:r>
            <a:r>
              <a:rPr lang="en-IN" dirty="0"/>
              <a:t>": [    {      "</a:t>
            </a:r>
            <a:r>
              <a:rPr lang="en-IN" dirty="0" err="1"/>
              <a:t>span_index</a:t>
            </a:r>
            <a:r>
              <a:rPr lang="en-IN" dirty="0"/>
              <a:t>": 0,      "from": "A",      "to": "B",      "</a:t>
            </a:r>
            <a:r>
              <a:rPr lang="en-IN" dirty="0" err="1"/>
              <a:t>length_km</a:t>
            </a:r>
            <a:r>
              <a:rPr lang="en-IN" dirty="0"/>
              <a:t>": 50,      "</a:t>
            </a:r>
            <a:r>
              <a:rPr lang="en-IN" dirty="0" err="1"/>
              <a:t>loss_db</a:t>
            </a:r>
            <a:r>
              <a:rPr lang="en-IN" dirty="0"/>
              <a:t>": 3.6    </a:t>
            </a:r>
          </a:p>
          <a:p>
            <a:r>
              <a:rPr lang="en-IN" dirty="0"/>
              <a:t>}  ],</a:t>
            </a:r>
          </a:p>
          <a:p>
            <a:r>
              <a:rPr lang="en-IN" dirty="0"/>
              <a:t>  "</a:t>
            </a:r>
            <a:r>
              <a:rPr lang="en-IN" dirty="0" err="1"/>
              <a:t>assumptions_used</a:t>
            </a:r>
            <a:r>
              <a:rPr lang="en-IN" dirty="0"/>
              <a:t>": {    "</a:t>
            </a:r>
            <a:r>
              <a:rPr lang="en-IN" dirty="0" err="1"/>
              <a:t>fiber_atten_db_per_km</a:t>
            </a:r>
            <a:r>
              <a:rPr lang="en-IN" dirty="0"/>
              <a:t>": 0.22,    "</a:t>
            </a:r>
            <a:r>
              <a:rPr lang="en-IN" dirty="0" err="1"/>
              <a:t>conn_loss_db</a:t>
            </a:r>
            <a:r>
              <a:rPr lang="en-IN" dirty="0"/>
              <a:t>": 0.5,    "</a:t>
            </a:r>
            <a:r>
              <a:rPr lang="en-IN" dirty="0" err="1"/>
              <a:t>splice_loss_db</a:t>
            </a:r>
            <a:r>
              <a:rPr lang="en-IN" dirty="0"/>
              <a:t>": 0.1,    "</a:t>
            </a:r>
            <a:r>
              <a:rPr lang="en-IN" dirty="0" err="1"/>
              <a:t>noise_penalty_db</a:t>
            </a:r>
            <a:r>
              <a:rPr lang="en-IN" dirty="0"/>
              <a:t>": 3.0,    "</a:t>
            </a:r>
            <a:r>
              <a:rPr lang="en-IN" dirty="0" err="1"/>
              <a:t>amp_penalty_db</a:t>
            </a:r>
            <a:r>
              <a:rPr lang="en-IN" dirty="0"/>
              <a:t>": 1.0  </a:t>
            </a:r>
          </a:p>
          <a:p>
            <a:r>
              <a:rPr lang="en-IN" dirty="0"/>
              <a:t>}} </a:t>
            </a:r>
          </a:p>
        </p:txBody>
      </p:sp>
    </p:spTree>
    <p:extLst>
      <p:ext uri="{BB962C8B-B14F-4D97-AF65-F5344CB8AC3E}">
        <p14:creationId xmlns:p14="http://schemas.microsoft.com/office/powerpoint/2010/main" val="2628956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65F50-9497-BD5D-0ACC-71F0433DA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3614"/>
            <a:ext cx="9144000" cy="1036586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pics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878DE6-A0DD-35D9-69CE-09B45BD43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53849"/>
            <a:ext cx="9144000" cy="3503951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D7B49A-1888-0BAA-A3E5-4239C0939C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2"/>
          <a:stretch>
            <a:fillRect/>
          </a:stretch>
        </p:blipFill>
        <p:spPr>
          <a:xfrm>
            <a:off x="335352" y="2113613"/>
            <a:ext cx="5561259" cy="31677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E2E1CA-BB59-8F59-1332-8C62622F75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7"/>
          <a:stretch>
            <a:fillRect/>
          </a:stretch>
        </p:blipFill>
        <p:spPr>
          <a:xfrm>
            <a:off x="6215922" y="2113613"/>
            <a:ext cx="5640726" cy="321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989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E414D-9253-35AA-84A0-4EFFDCF5F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C8636C8-564F-CEEC-1FE4-F34933B774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7"/>
          <a:stretch>
            <a:fillRect/>
          </a:stretch>
        </p:blipFill>
        <p:spPr>
          <a:xfrm>
            <a:off x="461360" y="1690687"/>
            <a:ext cx="5264883" cy="30106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4481E6-1BD2-A2D5-6639-C1B44696B6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6"/>
          <a:stretch>
            <a:fillRect/>
          </a:stretch>
        </p:blipFill>
        <p:spPr>
          <a:xfrm>
            <a:off x="6096000" y="1690687"/>
            <a:ext cx="5634640" cy="322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847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65225-8F68-45F7-9DE8-F459FB45A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47595"/>
            <a:ext cx="9144000" cy="1006606"/>
          </a:xfrm>
        </p:spPr>
        <p:txBody>
          <a:bodyPr>
            <a:normAutofit/>
          </a:bodyPr>
          <a:lstStyle/>
          <a:p>
            <a:pPr algn="l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Cases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9362AB-3E38-F674-1B45-B06E47372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83633"/>
            <a:ext cx="9493770" cy="3926772"/>
          </a:xfrm>
        </p:spPr>
        <p:txBody>
          <a:bodyPr/>
          <a:lstStyle/>
          <a:p>
            <a:pPr algn="l"/>
            <a:r>
              <a:rPr lang="en-US" dirty="0"/>
              <a:t>The planner was tested against critical boundary conditions to ensure robustness.</a:t>
            </a:r>
          </a:p>
          <a:p>
            <a:pPr algn="l"/>
            <a:r>
              <a:rPr lang="en-US" dirty="0"/>
              <a:t> </a:t>
            </a:r>
            <a:r>
              <a:rPr lang="en-US" b="1" dirty="0"/>
              <a:t>Long Spans </a:t>
            </a:r>
            <a:r>
              <a:rPr lang="en-US" dirty="0"/>
              <a:t>Large fiber length increases attenuation. Total loss may exceed power budget. Can result in Rx Power below sensitivity </a:t>
            </a:r>
          </a:p>
          <a:p>
            <a:pPr algn="l"/>
            <a:r>
              <a:rPr lang="en-US" dirty="0"/>
              <a:t> </a:t>
            </a:r>
            <a:r>
              <a:rPr lang="en-US" b="1" dirty="0"/>
              <a:t>No Amplifiers </a:t>
            </a:r>
            <a:r>
              <a:rPr lang="en-US" dirty="0"/>
              <a:t>No gain compensation for fiber loss. High probability of power failure over long distances.</a:t>
            </a:r>
          </a:p>
          <a:p>
            <a:pPr algn="l"/>
            <a:r>
              <a:rPr lang="en-US" b="1" dirty="0"/>
              <a:t>Receiver Sensitivity Limits </a:t>
            </a:r>
            <a:r>
              <a:rPr lang="en-US" dirty="0"/>
              <a:t>Even if OSNR is acceptable, Rx Power must still be above sensitivity. </a:t>
            </a:r>
          </a:p>
          <a:p>
            <a:pPr algn="l"/>
            <a:r>
              <a:rPr lang="en-US" b="1" dirty="0"/>
              <a:t>High OSNR Threshold </a:t>
            </a:r>
            <a:r>
              <a:rPr lang="en-US" dirty="0"/>
              <a:t>Stricter modulation formats require higher OSNR. May cause OSNR failure even if power is sufficient.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2747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C167F-FD69-F976-5205-33FEF3158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4636"/>
            <a:ext cx="9144000" cy="901674"/>
          </a:xfrm>
        </p:spPr>
        <p:txBody>
          <a:bodyPr>
            <a:normAutofit fontScale="90000"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1B6CB4-FFF1-7140-51F1-6B8D41B32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9095" y="1456310"/>
            <a:ext cx="9728616" cy="4847054"/>
          </a:xfrm>
        </p:spPr>
        <p:txBody>
          <a:bodyPr/>
          <a:lstStyle/>
          <a:p>
            <a:pPr algn="l"/>
            <a:r>
              <a:rPr lang="en-IN" dirty="0"/>
              <a:t>The current implementation is a simplified training model. Future enhancements can improve realism and scalability.</a:t>
            </a:r>
          </a:p>
          <a:p>
            <a:pPr algn="l"/>
            <a:r>
              <a:rPr lang="en-IN" b="1" dirty="0"/>
              <a:t>Flex-Grid Support </a:t>
            </a:r>
            <a:r>
              <a:rPr lang="en-IN" dirty="0" err="1"/>
              <a:t>Support</a:t>
            </a:r>
            <a:r>
              <a:rPr lang="en-IN" dirty="0"/>
              <a:t> variable channel spacing Enable flexible spectral allocation Improve spectral efficiency</a:t>
            </a:r>
          </a:p>
          <a:p>
            <a:pPr algn="l"/>
            <a:r>
              <a:rPr lang="en-IN" dirty="0"/>
              <a:t> </a:t>
            </a:r>
            <a:r>
              <a:rPr lang="en-IN" b="1" dirty="0"/>
              <a:t>Modulation-Aware Planning </a:t>
            </a:r>
            <a:r>
              <a:rPr lang="en-IN" dirty="0"/>
              <a:t>Different modulation formats (QPSK, 16QAM, etc.)Dynamic OSNR thresholds based on modulation Capacity-aware feasibility checks </a:t>
            </a:r>
          </a:p>
          <a:p>
            <a:pPr algn="l"/>
            <a:r>
              <a:rPr lang="en-IN" dirty="0"/>
              <a:t> </a:t>
            </a:r>
            <a:r>
              <a:rPr lang="en-IN" b="1" dirty="0"/>
              <a:t>Regenerator (Regen) Planning </a:t>
            </a:r>
            <a:r>
              <a:rPr lang="en-IN" dirty="0"/>
              <a:t>Identify locations requiring signal regeneration Support multi-span long-haul planning Improve long-distance network design</a:t>
            </a:r>
          </a:p>
          <a:p>
            <a:pPr algn="l"/>
            <a:r>
              <a:rPr lang="en-IN" b="1" dirty="0"/>
              <a:t>Telemetry Integration </a:t>
            </a:r>
            <a:r>
              <a:rPr lang="en-IN" dirty="0"/>
              <a:t>Use real-time network performance data Compare planned vs actual link metrics Enable adaptive optimization</a:t>
            </a:r>
          </a:p>
        </p:txBody>
      </p:sp>
    </p:spTree>
    <p:extLst>
      <p:ext uri="{BB962C8B-B14F-4D97-AF65-F5344CB8AC3E}">
        <p14:creationId xmlns:p14="http://schemas.microsoft.com/office/powerpoint/2010/main" val="401682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9FF90-494F-D567-F571-987E24119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</a:t>
            </a:r>
          </a:p>
        </p:txBody>
      </p:sp>
      <p:pic>
        <p:nvPicPr>
          <p:cNvPr id="4" name="demo">
            <a:hlinkClick r:id="" action="ppaction://media"/>
            <a:extLst>
              <a:ext uri="{FF2B5EF4-FFF2-40B4-BE49-F238E27FC236}">
                <a16:creationId xmlns:a16="http://schemas.microsoft.com/office/drawing/2014/main" id="{5E6C7F5E-68D7-A93F-4942-BAB828BB5D61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20938" y="1825625"/>
            <a:ext cx="7350125" cy="4351338"/>
          </a:xfrm>
        </p:spPr>
      </p:pic>
    </p:spTree>
    <p:extLst>
      <p:ext uri="{BB962C8B-B14F-4D97-AF65-F5344CB8AC3E}">
        <p14:creationId xmlns:p14="http://schemas.microsoft.com/office/powerpoint/2010/main" val="66351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2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3F169-5FB3-8165-61A7-8B7CC6481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56862-D4C4-463B-BDC4-2ED06C7CB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Questions &amp; Discussion</a:t>
            </a:r>
          </a:p>
          <a:p>
            <a:r>
              <a:rPr lang="en-IN" dirty="0"/>
              <a:t>Clarifications on power budget or OSNR logic</a:t>
            </a:r>
          </a:p>
          <a:p>
            <a:r>
              <a:rPr lang="en-IN" dirty="0"/>
              <a:t>Architecture or implementation details</a:t>
            </a:r>
          </a:p>
          <a:p>
            <a:r>
              <a:rPr lang="en-IN" dirty="0"/>
              <a:t>Design decisions and assumptions</a:t>
            </a:r>
          </a:p>
          <a:p>
            <a:r>
              <a:rPr lang="en-IN" dirty="0"/>
              <a:t>Possible improvements or extensions</a:t>
            </a:r>
          </a:p>
        </p:txBody>
      </p:sp>
    </p:spTree>
    <p:extLst>
      <p:ext uri="{BB962C8B-B14F-4D97-AF65-F5344CB8AC3E}">
        <p14:creationId xmlns:p14="http://schemas.microsoft.com/office/powerpoint/2010/main" val="3041497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9B6F9-FC95-C80C-17E5-58FDF11FF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A048E-14B0-6E56-5274-F79C38FDF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  <a:p>
            <a:r>
              <a:rPr lang="en-IN" dirty="0"/>
              <a:t>Basic DWDM Concepts (Training Notes)</a:t>
            </a:r>
          </a:p>
          <a:p>
            <a:r>
              <a:rPr lang="en-IN" dirty="0" err="1"/>
              <a:t>FastAPI</a:t>
            </a:r>
            <a:r>
              <a:rPr lang="en-IN" dirty="0"/>
              <a:t> Documentation</a:t>
            </a:r>
          </a:p>
          <a:p>
            <a:r>
              <a:rPr lang="en-IN" dirty="0"/>
              <a:t>React Documentation</a:t>
            </a:r>
          </a:p>
          <a:p>
            <a:r>
              <a:rPr lang="en-IN" dirty="0"/>
              <a:t>Axios Documentation</a:t>
            </a:r>
          </a:p>
          <a:p>
            <a:r>
              <a:rPr lang="en-IN" dirty="0"/>
              <a:t>React Flow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093883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A92B4-8DC0-6712-B9A5-1466EB23E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864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1114</Words>
  <Application>Microsoft Office PowerPoint</Application>
  <PresentationFormat>Widescreen</PresentationFormat>
  <Paragraphs>88</Paragraphs>
  <Slides>17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DWDM Network Planning Tool (Training-Level Feasibility Analyzer using FastAPI &amp; React) </vt:lpstr>
      <vt:lpstr>Agenda</vt:lpstr>
      <vt:lpstr>Introduction to DWDM</vt:lpstr>
      <vt:lpstr>Problem Statement</vt:lpstr>
      <vt:lpstr>Project Objective </vt:lpstr>
      <vt:lpstr>Key Optical Planning Parameters</vt:lpstr>
      <vt:lpstr>System Architecture</vt:lpstr>
      <vt:lpstr>Data Flow Diagram</vt:lpstr>
      <vt:lpstr>API Contract</vt:lpstr>
      <vt:lpstr>pics</vt:lpstr>
      <vt:lpstr>PowerPoint Presentation</vt:lpstr>
      <vt:lpstr>Edge Cases</vt:lpstr>
      <vt:lpstr>Future Work</vt:lpstr>
      <vt:lpstr> demo</vt:lpstr>
      <vt:lpstr>Q&amp;A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Amarnath S S</dc:creator>
  <cp:lastModifiedBy>Amarnath S S</cp:lastModifiedBy>
  <cp:revision>1</cp:revision>
  <dcterms:created xsi:type="dcterms:W3CDTF">2026-02-22T17:29:53Z</dcterms:created>
  <dcterms:modified xsi:type="dcterms:W3CDTF">2026-02-22T17:29:53Z</dcterms:modified>
</cp:coreProperties>
</file>
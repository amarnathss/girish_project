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2" r:id="rId12"/>
    <p:sldId id="265" r:id="rId13"/>
    <p:sldId id="266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0CDD-A0FE-FD4E-E1EF-0D8696DFC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D8553-7BBD-E907-8D97-9B72442FD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A3783-B6B7-C602-DE58-3959D059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9EF2-09E5-1F20-E867-DA03B694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80A5-F5D7-8B80-3CB2-712965FB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0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1248-C3F9-4272-F5F6-54403BF5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263CA-B7D9-7AB5-1BBB-BCC57102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A8BC-FD3C-3DCD-82D9-80C7FB26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93A0D-5837-3B0A-C49D-AF98222E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50EC2-B5DD-374A-2413-7527F69E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37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40E9-6273-649E-39DF-CC23F7C5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FECBA-1F12-0442-102C-24F50D9B7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DAB6D-9CD7-72DF-3417-AE940E73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A6ABC-76AE-692C-D09C-9B0462FA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00035-F851-153B-9CCC-EE61614A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3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B942-2430-2B5E-F57B-09F5A7D0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B08A-784E-BDE7-37F2-40A822667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0CDC0-38E9-7B2D-44D3-5B2A32DE7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62DD9-1EAF-4D87-C420-58E78AF3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99F1B-8A8E-00DF-F1A9-2A8AD3F0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43EAE-0594-1141-3FEE-CEFD4C01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1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AE8D-8E2E-747B-0578-BD8FF08B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565E3-B272-3367-0AB2-BC983017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FF728-0B24-745E-824E-3CE690C59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4DC3C-00BD-21B1-D644-3DB414539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C82C5-D25F-3A24-F71C-4732B462A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9D1E7-DF1C-EEE0-A7A4-29EDAD79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21D76-A412-67E4-22AC-8739C84C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24AE5-8DCA-5AEA-FAFC-780E4756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90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C569-E218-FC00-50DB-F920FEA0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6BED2-CEA0-6208-602C-A68C17EE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3ED49-4D83-9C8B-DF5E-9670CD86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475F1-BF5C-A5E1-EC2C-1B0F2A62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59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23396-1561-B446-D759-C53F2144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28416-7673-925B-E318-B47C5327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165F8-6F7A-8FF1-1B58-5566B775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14A5-F58A-372A-A4D5-F76E56DF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AB68B-4B0E-6D66-EA69-2A09CD17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D7AD8-DB90-DF35-44EF-A02C537E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24B93-3BD7-9A4E-FE24-0671C71E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4413C-1B11-2965-819F-41F737D6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3C26F-FAEB-7F78-B878-E922DDC3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35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9993-3426-3F0A-5E62-D749D03A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9FB313-5C63-B735-5C72-CC8ADB5AB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3B5A3-20AF-68E6-0141-F3E19E96A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F73BB-4078-3E5E-9745-D9BE35D2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1287-9902-04F3-14E7-B2460509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C902A-215D-FDD9-79EC-1CACC85E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0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B585-743A-C4E5-93F1-EB9D1B13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FD1DA-A701-AA78-A4AC-8C8EE0804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681D9-1DFF-C2FB-E2D9-7334548A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E612-4880-A9F3-1AFC-4B4A8E17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11089-F838-B260-40F4-7E14709D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63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3777F-0A51-3A53-3F84-3EDADC329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33E92-F084-2130-1C72-7EA221667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7F8C-5BA1-1FF3-DE32-ECAEB1F2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5B0F7-D2D4-0BF3-EB0F-A4DC82C8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84082-99A5-28DD-BE74-A39F2709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64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B558E-F48B-E2B5-E965-08727F7F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5A18A-E085-4B3C-9972-2F98921F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8724B-0F1E-9111-5D19-1E187FFD0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B7D4C-04D9-4057-AE06-0697A63F89A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E954-8E9D-52D1-C9B0-6440C03F2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2606D-E1D4-E574-983C-333A750E0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0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414D-8DC1-DE8E-B98D-AF3D80E0A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53465"/>
            <a:ext cx="9467461" cy="3678576"/>
          </a:xfrm>
        </p:spPr>
        <p:txBody>
          <a:bodyPr>
            <a:no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DWDM Network Planning Tool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(Training-Level Feasibility Analyzer using </a:t>
            </a:r>
            <a:r>
              <a:rPr lang="en-I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React)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BACFC-D73F-F123-8319-9A15F248F4E4}"/>
              </a:ext>
            </a:extLst>
          </p:cNvPr>
          <p:cNvSpPr txBox="1"/>
          <p:nvPr/>
        </p:nvSpPr>
        <p:spPr>
          <a:xfrm>
            <a:off x="4803710" y="5270522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Girish CK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: Python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React (Frontend UI)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23/02/2026</a:t>
            </a:r>
          </a:p>
        </p:txBody>
      </p:sp>
    </p:spTree>
    <p:extLst>
      <p:ext uri="{BB962C8B-B14F-4D97-AF65-F5344CB8AC3E}">
        <p14:creationId xmlns:p14="http://schemas.microsoft.com/office/powerpoint/2010/main" val="2463932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A572-1E1F-D49A-EE7A-721874FF0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6455"/>
            <a:ext cx="9144000" cy="863745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FAC43-DEE8-83E9-EC24-738BD28C6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97736"/>
            <a:ext cx="9144000" cy="327660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DWDM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Metrics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Budget &amp; Rx Power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OSNR (Threshold &amp; Margin)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React)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Contract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&amp; Future 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&amp; Q&amp;A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4754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C1D8-2067-63F9-CA1B-230065A3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7219"/>
            <a:ext cx="9144000" cy="1126981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DWDM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214A2-A70F-D3CE-D8F5-41A4BF072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1309"/>
            <a:ext cx="9864436" cy="3851564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fundamental concepts required to understand DWDM network planning: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DWDM carries multiple optical channels over a single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Each channel operates at a different wavelength (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λ)</a:t>
            </a:r>
            <a:b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high-capacity transmission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A span is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 between two optical elements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Signal power reduces over distance due to attenuation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May include connectors, splices, and amplifiers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ROADMs (Reconfigurable Optical Add-Drop Multiplexers)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Allow dynamic routing of wavelengths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Enable flexible optical network design</a:t>
            </a:r>
          </a:p>
        </p:txBody>
      </p:sp>
    </p:spTree>
    <p:extLst>
      <p:ext uri="{BB962C8B-B14F-4D97-AF65-F5344CB8AC3E}">
        <p14:creationId xmlns:p14="http://schemas.microsoft.com/office/powerpoint/2010/main" val="396745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17F8-1A21-3F41-A9E0-10B24001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2637"/>
            <a:ext cx="9144000" cy="1071563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E51BE-EF38-394F-D2E0-C549F8E46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119745"/>
            <a:ext cx="9628909" cy="4073237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Attenuation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Signal loss per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kilometer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(dB/km)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Increases with distance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Primary contributor to total link loss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Each connector introduces insertion loss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Accumulates across the link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Splices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Fusion or mechanical joints in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Add small but cumulative loss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EDFA (Erbium-Doped Fiber Amplifier)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Compensates for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by amplifying signal power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Includes gain and practical penalties</a:t>
            </a:r>
          </a:p>
        </p:txBody>
      </p:sp>
    </p:spTree>
    <p:extLst>
      <p:ext uri="{BB962C8B-B14F-4D97-AF65-F5344CB8AC3E}">
        <p14:creationId xmlns:p14="http://schemas.microsoft.com/office/powerpoint/2010/main" val="236591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5D75-01CA-CC1F-AAD7-EEB9837D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240" y="168029"/>
            <a:ext cx="9144000" cy="1108219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Budget &amp; Rx Power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FC30D-1860-DF65-893E-CA5C572AA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1205345"/>
            <a:ext cx="9601200" cy="4447309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Budget &amp; Rx Power (Formula + Example)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Power Budget?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Power Budget = Tx Power − Receiver Sensitivity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It represents the maximum allowable loss in the link.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Link Loss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Total Loss = (Fiber Loss + Connector Loss + Splice Loss − Amplifier Gain)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Where: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▪ Fiber Loss = Length × Attenuation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▪ Connector Loss = Number of connectors × Loss per connector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▪ Splice Loss = Number of splices × Loss per splice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Power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Rx Power = Tx Power − Total Loss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Power condition is satisfied if: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▪ Rx Power ≥ Receiver Sensitivity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F9186-B45A-74B5-F160-5B88736C3A07}"/>
              </a:ext>
            </a:extLst>
          </p:cNvPr>
          <p:cNvSpPr txBox="1"/>
          <p:nvPr/>
        </p:nvSpPr>
        <p:spPr>
          <a:xfrm>
            <a:off x="6917436" y="4104647"/>
            <a:ext cx="50307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Given: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Tx Power = 2 dBm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Receiver Sensitivity = −28 dBm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Power Budget = 2 − (−28) = 30 dB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Assume Total Loss = 22 dB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Rx Power = 2 − 22 = −20 dBm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Since −20 ≥ −28 → Power PASS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86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BD4F-4C07-DED7-5725-E98495CFE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408" y="350170"/>
            <a:ext cx="10183318" cy="1202309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OSNR (Threshold &amp; Margin)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1ED2A-66FF-0265-B7D3-0BA532612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408" y="1406175"/>
            <a:ext cx="9671854" cy="4647153"/>
          </a:xfrm>
        </p:spPr>
        <p:txBody>
          <a:bodyPr>
            <a:noAutofit/>
          </a:bodyPr>
          <a:lstStyle/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OSNR?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OSNR (Optical Signal-to-Noise Ratio) measures the quality of the optical signal.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It represents the ratio of signal power to noise power.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Higher OSNR → Better signal quality.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OSNR Estimation (Training Model)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Estimated OSNR = Tx Power − Total Loss + Total Amplifier Gain − Noise Penalty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OSNR Margin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OSNR Margin = Estimated OSNR − OSNR Threshold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Condition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If OSNR Margin ≥ 0 → OSNR PASS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If OSNR Margin &lt; 0 → OSNR FAIL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Both conditions must be satisfied: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▪ Rx Power ≥ Receiver Sensitivity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▪ OSNR Margin ≥ 0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Only then → Link is Feasible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30433-EFDD-EE50-62D5-7B1EA1FBDC05}"/>
              </a:ext>
            </a:extLst>
          </p:cNvPr>
          <p:cNvSpPr txBox="1"/>
          <p:nvPr/>
        </p:nvSpPr>
        <p:spPr>
          <a:xfrm>
            <a:off x="7104888" y="4289858"/>
            <a:ext cx="4288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Assume: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Estimated OSNR = 20 dB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OSNR Threshold = 18 dB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OSNR Margin = 20 − 18 = 2 dB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Since margin ≥ 0 → OSNR PASS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2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35D8-03A1-D69A-E60A-71839FAB3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8585"/>
            <a:ext cx="9144000" cy="991615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99B32-7CB2-68A8-7756-EEC1CC750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58780"/>
            <a:ext cx="9643672" cy="4557010"/>
          </a:xfrm>
        </p:spPr>
        <p:txBody>
          <a:bodyPr/>
          <a:lstStyle/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69F19-C04B-B392-FC0F-E99C2BD9D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1"/>
          <a:stretch>
            <a:fillRect/>
          </a:stretch>
        </p:blipFill>
        <p:spPr>
          <a:xfrm>
            <a:off x="1757171" y="1691640"/>
            <a:ext cx="8677657" cy="422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34C2-140B-9961-0128-9B6717B52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4517"/>
            <a:ext cx="9144000" cy="991615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EF114-FA8D-F8BD-7A26-D50E631AB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4084" y="1726131"/>
            <a:ext cx="11425803" cy="568965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D34CE-CE63-DF1A-E64F-71FC9AEA5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47" y="2101034"/>
            <a:ext cx="10680506" cy="57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9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4768-F542-52E0-0C14-04A6BDFBA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913" y="382330"/>
            <a:ext cx="9144000" cy="961635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Contract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5C369-531A-9EBD-B3EF-3DEF964BC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610" y="1656414"/>
            <a:ext cx="3692577" cy="4437089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Information</a:t>
            </a:r>
          </a:p>
          <a:p>
            <a:pPr algn="l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Method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</a:t>
            </a:r>
          </a:p>
          <a:p>
            <a:pPr algn="l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/plan/feasibility</a:t>
            </a:r>
          </a:p>
          <a:p>
            <a:pPr algn="l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application/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A791F-A791-B902-1A59-88BDC505CF2B}"/>
              </a:ext>
            </a:extLst>
          </p:cNvPr>
          <p:cNvSpPr txBox="1"/>
          <p:nvPr/>
        </p:nvSpPr>
        <p:spPr>
          <a:xfrm>
            <a:off x="4572001" y="1612800"/>
            <a:ext cx="385247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Structure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"nodes": [    { "id": "A", "label": "Site A" },    { "id": "B", "label": "Site B" }  ],  "spans": [    {      "from": "A",      "to": "B",  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length_km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50,      "connectors": 2,      "splices": 6,  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amplifier_gain_db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10    }  ],  "service": {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tx_power_dbm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receiver_sensitivity_dbm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-26,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osnr_threshold_db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18  },  "assumptions": {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fiber_atten_db_per_km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0.22,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conn_loss_db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0.5,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splice_loss_db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0.1,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noise_penalty_db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3.0,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amp_penalty_db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1.0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179F0-E39F-9559-BDEF-DA0A955B9490}"/>
              </a:ext>
            </a:extLst>
          </p:cNvPr>
          <p:cNvSpPr txBox="1"/>
          <p:nvPr/>
        </p:nvSpPr>
        <p:spPr>
          <a:xfrm>
            <a:off x="8282064" y="1582022"/>
            <a:ext cx="350769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Structure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total_loss_db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3.6,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tx_power_dbm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-3.6,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osnr_margin_db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-15.6,  "feasible": false,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per_span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    {  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span_index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0,      "from": "A",      "to": "B",  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length_km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50,  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3.6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],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assumptions_used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{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fiber_atten_db_per_km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0.22,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conn_loss_db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0.5,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splice_loss_db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0.1,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noise_penalty_db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3.0,   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amp_penalty_db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1.0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262895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5F50-9497-BD5D-0ACC-71F0433DA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3614"/>
            <a:ext cx="9144000" cy="1036586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78DE6-A0DD-35D9-69CE-09B45BD43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53849"/>
            <a:ext cx="9144000" cy="350395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7B49A-1888-0BAA-A3E5-4239C0939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2"/>
          <a:stretch>
            <a:fillRect/>
          </a:stretch>
        </p:blipFill>
        <p:spPr>
          <a:xfrm>
            <a:off x="414820" y="1921956"/>
            <a:ext cx="5561259" cy="3167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2E1CA-BB59-8F59-1332-8C62622F7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7"/>
          <a:stretch>
            <a:fillRect/>
          </a:stretch>
        </p:blipFill>
        <p:spPr>
          <a:xfrm>
            <a:off x="6215923" y="1931100"/>
            <a:ext cx="5640726" cy="32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8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414D-9253-35AA-84A0-4EFFDCF5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C8636C8-564F-CEEC-1FE4-F34933B77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7"/>
          <a:stretch>
            <a:fillRect/>
          </a:stretch>
        </p:blipFill>
        <p:spPr>
          <a:xfrm>
            <a:off x="461360" y="1690687"/>
            <a:ext cx="5264883" cy="30106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4481E6-1BD2-A2D5-6639-C1B44696B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6"/>
          <a:stretch>
            <a:fillRect/>
          </a:stretch>
        </p:blipFill>
        <p:spPr>
          <a:xfrm>
            <a:off x="6096000" y="1690687"/>
            <a:ext cx="5634640" cy="32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4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5225-8F68-45F7-9DE8-F459FB45A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9851"/>
            <a:ext cx="9144000" cy="1006606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362AB-3E38-F674-1B45-B06E47372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1681296"/>
            <a:ext cx="9493770" cy="4390319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planner was tested against critical boundary conditions to ensure robustness.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Spans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Large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increases attenuation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Total loss may exceed power budget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Rx power may fall below sensitivity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Amplifiers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No gain to compensate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High probability of power failure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Critical over long distances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Sensitivity Limits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Rx power must exceed sensitivity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Even if OSNR is acceptable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Otherwise results in failure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OSNR Threshold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Advanced modulation needs higher OSNR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Stricter quality requirements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May fail despite sufficient power</a:t>
            </a:r>
          </a:p>
        </p:txBody>
      </p:sp>
    </p:spTree>
    <p:extLst>
      <p:ext uri="{BB962C8B-B14F-4D97-AF65-F5344CB8AC3E}">
        <p14:creationId xmlns:p14="http://schemas.microsoft.com/office/powerpoint/2010/main" val="135274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167F-FD69-F976-5205-33FEF3158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4636"/>
            <a:ext cx="9144000" cy="901674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B6CB4-FFF1-7140-51F1-6B8D41B32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1692" y="1456310"/>
            <a:ext cx="9728616" cy="4847054"/>
          </a:xfrm>
        </p:spPr>
        <p:txBody>
          <a:bodyPr>
            <a:noAutofit/>
          </a:bodyPr>
          <a:lstStyle/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implementation is a simplified training model. Future enhancements can improve realism and scalability.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Flex-Grid Support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Variable channel spacing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Flexible spectral allocation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Improved spectral efficiency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Modulation-Aware Planning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Supports QPSK, 16QAM, etc.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Dynamic OSNR thresholds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Capacity-aware feasibility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Regenerator (Regen) Planning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Identify regeneration locations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Support long-haul multi-span links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Improve signal quality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Integration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Use real-time performance data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Compare planned vs actual metrics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○ Enable adaptive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1682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FF90-494F-D567-F571-987E2411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demo">
            <a:hlinkClick r:id="" action="ppaction://media"/>
            <a:extLst>
              <a:ext uri="{FF2B5EF4-FFF2-40B4-BE49-F238E27FC236}">
                <a16:creationId xmlns:a16="http://schemas.microsoft.com/office/drawing/2014/main" id="{5E6C7F5E-68D7-A93F-4942-BAB828BB5D6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20938" y="1825625"/>
            <a:ext cx="7350125" cy="4351338"/>
          </a:xfrm>
        </p:spPr>
      </p:pic>
    </p:spTree>
    <p:extLst>
      <p:ext uri="{BB962C8B-B14F-4D97-AF65-F5344CB8AC3E}">
        <p14:creationId xmlns:p14="http://schemas.microsoft.com/office/powerpoint/2010/main" val="66351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B6F9-FC95-C80C-17E5-58FDF11F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048E-14B0-6E56-5274-F79C38FD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69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DWDM Concepts (Training Notes)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Flow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093883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92B4-8DC0-6712-B9A5-1466EB23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864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1267</Words>
  <Application>Microsoft Office PowerPoint</Application>
  <PresentationFormat>Widescreen</PresentationFormat>
  <Paragraphs>77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DWDM Network Planning Tool (Training-Level Feasibility Analyzer using FastAPI &amp; React) </vt:lpstr>
      <vt:lpstr>Agenda</vt:lpstr>
      <vt:lpstr>Introduction to DWDM</vt:lpstr>
      <vt:lpstr>Planning Metrics</vt:lpstr>
      <vt:lpstr>Power Budget &amp; Rx Power</vt:lpstr>
      <vt:lpstr>OSNR (Threshold &amp; Margin)</vt:lpstr>
      <vt:lpstr>System Architecture</vt:lpstr>
      <vt:lpstr>Data Flow Diagram</vt:lpstr>
      <vt:lpstr>API Contract</vt:lpstr>
      <vt:lpstr>UI Screens</vt:lpstr>
      <vt:lpstr>UI Screens </vt:lpstr>
      <vt:lpstr>Edge Cases</vt:lpstr>
      <vt:lpstr>Future Work</vt:lpstr>
      <vt:lpstr>Demo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Amarnath S S</dc:creator>
  <cp:lastModifiedBy>Abhishek Ullegaddi</cp:lastModifiedBy>
  <cp:revision>3</cp:revision>
  <dcterms:created xsi:type="dcterms:W3CDTF">2026-02-22T17:29:53Z</dcterms:created>
  <dcterms:modified xsi:type="dcterms:W3CDTF">2026-02-23T09:03:38Z</dcterms:modified>
</cp:coreProperties>
</file>